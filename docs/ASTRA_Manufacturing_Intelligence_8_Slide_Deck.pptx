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5745ac6df64b3f" /><Relationship Type="http://schemas.openxmlformats.org/officeDocument/2006/relationships/extended-properties" Target="/docProps/app.xml" Id="Rf1941ceaa9c04bc0" /><Relationship Type="http://schemas.openxmlformats.org/officeDocument/2006/relationships/officeDocument" Target="/ppt/presentation.xml" Id="Ra4126f1efd7a4e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c94a72a85b46f9"/>
  </p:sldMasterIdLst>
  <p:notesMasterIdLst>
    <p:notesMasterId xmlns:r="http://schemas.openxmlformats.org/officeDocument/2006/relationships" r:id="R58e822694187412a"/>
  </p:notesMasterIdLst>
  <p:sldIdLst>
    <p:sldId xmlns:r="http://schemas.openxmlformats.org/officeDocument/2006/relationships" id="256" r:id="Rb322af5cb9a44daa"/>
    <p:sldId xmlns:r="http://schemas.openxmlformats.org/officeDocument/2006/relationships" id="257" r:id="Rb1ea0beb2e71424b"/>
    <p:sldId xmlns:r="http://schemas.openxmlformats.org/officeDocument/2006/relationships" id="258" r:id="Ra7ac2e39e13940d9"/>
    <p:sldId xmlns:r="http://schemas.openxmlformats.org/officeDocument/2006/relationships" id="259" r:id="R58df4dfc5a8e4f4d"/>
    <p:sldId xmlns:r="http://schemas.openxmlformats.org/officeDocument/2006/relationships" id="260" r:id="R585a4e831c124d62"/>
    <p:sldId xmlns:r="http://schemas.openxmlformats.org/officeDocument/2006/relationships" id="261" r:id="Ra6eeabbca20748b2"/>
    <p:sldId xmlns:r="http://schemas.openxmlformats.org/officeDocument/2006/relationships" id="262" r:id="R41dc20a99b4b4c53"/>
    <p:sldId xmlns:r="http://schemas.openxmlformats.org/officeDocument/2006/relationships" id="263" r:id="R0890f9d840b94e0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e9c62e0d524146" /><Relationship Type="http://schemas.openxmlformats.org/officeDocument/2006/relationships/slideMaster" Target="/ppt/slideMasters/slideMaster1.xml" Id="Rb8c94a72a85b46f9" /><Relationship Type="http://schemas.openxmlformats.org/officeDocument/2006/relationships/notesMaster" Target="/ppt/notesMasters/notesMaster1.xml" Id="R58e822694187412a" /><Relationship Type="http://schemas.openxmlformats.org/officeDocument/2006/relationships/presProps" Target="/ppt/presProps.xml" Id="Ra75e973215a14668" /><Relationship Type="http://schemas.openxmlformats.org/officeDocument/2006/relationships/tableStyles" Target="/ppt/tableStyles.xml" Id="R88b75c04af2b430d" /><Relationship Type="http://schemas.openxmlformats.org/officeDocument/2006/relationships/slide" Target="/ppt/slides/slide1.xml" Id="Rb322af5cb9a44daa" /><Relationship Type="http://schemas.openxmlformats.org/officeDocument/2006/relationships/slide" Target="/ppt/slides/slide2.xml" Id="Rb1ea0beb2e71424b" /><Relationship Type="http://schemas.openxmlformats.org/officeDocument/2006/relationships/slide" Target="/ppt/slides/slide3.xml" Id="Ra7ac2e39e13940d9" /><Relationship Type="http://schemas.openxmlformats.org/officeDocument/2006/relationships/slide" Target="/ppt/slides/slide4.xml" Id="R58df4dfc5a8e4f4d" /><Relationship Type="http://schemas.openxmlformats.org/officeDocument/2006/relationships/slide" Target="/ppt/slides/slide5.xml" Id="R585a4e831c124d62" /><Relationship Type="http://schemas.openxmlformats.org/officeDocument/2006/relationships/slide" Target="/ppt/slides/slide6.xml" Id="Ra6eeabbca20748b2" /><Relationship Type="http://schemas.openxmlformats.org/officeDocument/2006/relationships/slide" Target="/ppt/slides/slide7.xml" Id="R41dc20a99b4b4c53" /><Relationship Type="http://schemas.openxmlformats.org/officeDocument/2006/relationships/slide" Target="/ppt/slides/slide8.xml" Id="R0890f9d840b94e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4fd59622ddf4c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ASTRA Factory">
      <a:dk1>
        <a:srgbClr val="111A16"/>
      </a:dk1>
      <a:lt1>
        <a:srgbClr val="FFFFFF"/>
      </a:lt1>
      <a:dk2>
        <a:srgbClr val="25332C"/>
      </a:dk2>
      <a:lt2>
        <a:srgbClr val="DCE3DE"/>
      </a:lt2>
      <a:accent1>
        <a:srgbClr val="F28A1A"/>
      </a:accent1>
      <a:accent2>
        <a:srgbClr val="466C4C"/>
      </a:accent2>
      <a:accent3>
        <a:srgbClr val="26333C"/>
      </a:accent3>
      <a:accent4>
        <a:srgbClr val="C8650D"/>
      </a:accent4>
      <a:accent5>
        <a:srgbClr val="16201C"/>
      </a:accent5>
      <a:accent6>
        <a:srgbClr val="DCE8D7"/>
      </a:accent6>
      <a:hlink>
        <a:srgbClr val="C8650D"/>
      </a:hlink>
      <a:folHlink>
        <a:srgbClr val="C8650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STRA Factory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a54fc660d14b49" /><Relationship Type="http://schemas.openxmlformats.org/officeDocument/2006/relationships/notesMaster" Target="/ppt/notesMasters/notesMaster1.xml" Id="R986ce2630aad4f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25597dd4674bca" /><Relationship Type="http://schemas.openxmlformats.org/officeDocument/2006/relationships/notesMaster" Target="/ppt/notesMasters/notesMaster1.xml" Id="R4ac49971fa984c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510035b217f4c8a" /><Relationship Type="http://schemas.openxmlformats.org/officeDocument/2006/relationships/notesMaster" Target="/ppt/notesMasters/notesMaster1.xml" Id="R5cf880780e6b43b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21a31b6aab42f7" /><Relationship Type="http://schemas.openxmlformats.org/officeDocument/2006/relationships/notesMaster" Target="/ppt/notesMasters/notesMaster1.xml" Id="R34c5244cf5aa46f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7167166ab446c4" /><Relationship Type="http://schemas.openxmlformats.org/officeDocument/2006/relationships/notesMaster" Target="/ppt/notesMasters/notesMaster1.xml" Id="R9dc708565066403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4b9e4f1da68427d" /><Relationship Type="http://schemas.openxmlformats.org/officeDocument/2006/relationships/notesMaster" Target="/ppt/notesMasters/notesMaster1.xml" Id="R90a0b28de6724ac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d65aa7d852c43ab" /><Relationship Type="http://schemas.openxmlformats.org/officeDocument/2006/relationships/notesMaster" Target="/ppt/notesMasters/notesMaster1.xml" Id="R2f8ef671d2d8413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b9cb01146744eae" /><Relationship Type="http://schemas.openxmlformats.org/officeDocument/2006/relationships/notesMaster" Target="/ppt/notesMasters/notesMaster1.xml" Id="Rd13c2134a2d34f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Design direction follows the user-provided factory PowerPoint reference: white canvas, orange signal color, large industrial image, and restrained editorial typography. The factory visual was generated with the built-in image generation tool. The image is placed with contain-fit so the full source frame remains visible. Inspiration research: https://www.creativefabrica.com/de/product/factory-industrial-powerpoint/ ; https://poweredtemplate.com/fabrican-manufacturing-industry-keynote-112538/ ; https://www.slideteam.net/blog/top-10-smart-manufacturing-presentation-templates-with-samples-and-examples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source: C:/NURAX/README.md, Executive Summary, Core Product Thesis, Visual Inspection Pipeline, Confidence and Trust Model, and Reliability Principles. The generated inspection-cell visual uses contain-fit so the full source frame remains visible.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product surface checked in the Codex in-app browser at http://127.0.0.1:5174/ on 20 Sep 2026. Overview source: C:/NURAX/ASTRA_Release/frontend/preview-light.png. Batch source: local FastAPI inspection endpoint /api/inspection/batch, batch BAT-408D26BE033F, Model 2, SC-2048. Evidence images: C:/NURAX/ASTRA_Release/backend/app/data/artifacts/BAT-408D26BE033F. All images use contain-fit so the full source frames remain visible.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product surface checked in the Codex in-app browser at http://127.0.0.1:5174/. Production source image: C:/NURAX/ASTRA_Release/frontend/preview-3d-dark-fixed.png. Data source: /api/production/2/SC-2048 and /api/bottlenecks/2/SC-2048. Measured: output 1338, WIP 188, Assembly utilization 13.9286%, Assembly score 80 critical. Investigation context: Hole strength moderate; direct unit-to-machine join unavailable. The 3D twin uses contain-fit so the full source frame remains visible.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product surfaces checked in the Codex in-app browser at http://127.0.0.1:5174/, Simulation, Batches and models, System, and Developer pages. The live run matched SC-0007 at distance 0 for Demand 2. The UI labels results as Simulated / Advisory and documents method limitations. Current session showed persisted batch context, a healthy live check, and one recorded /api/health request returning 200.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source: C:/NURAX/README.md, Full System Architecture, Economic Intelligence, What-If Simulation, and UI / UX Direction. This slide uses editable boxes and connectors because it explains system structure rather than serving as a decorative illustration.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source: C:/NURAX/README.md, Judge Interaction Flow and Example Final Investigation. Live batch values from BAT-408D26BE033F and Model_2.csv / SC-2048. Annotated sample asset from C:/NURAX/ASTRA_Release/backend/app/data/artifacts/BAT-408D26BE033F/ART-F64699DFEC554995B2703D09DFC8A1C3.png. The evidence image uses contain-fit so the full sample frame remains visible.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 message summarizes the project thesis from C:/NURAX/README.md: a defect should start an investigation, not end one. The generated inspection visual is placed with contain-fit so the full source frame remains visible.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f8ed05972f449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4a5355e6764da4" /><Relationship Type="http://schemas.openxmlformats.org/officeDocument/2006/relationships/slideLayout" Target="/ppt/slideLayouts/slideLayout1.xml" Id="R9f0ff94635d643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0ff94635d643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ASTRA Factory">
      <a:dk1>
        <a:srgbClr val="111A16"/>
      </a:dk1>
      <a:lt1>
        <a:srgbClr val="FFFFFF"/>
      </a:lt1>
      <a:dk2>
        <a:srgbClr val="25332C"/>
      </a:dk2>
      <a:lt2>
        <a:srgbClr val="DCE3DE"/>
      </a:lt2>
      <a:accent1>
        <a:srgbClr val="F28A1A"/>
      </a:accent1>
      <a:accent2>
        <a:srgbClr val="466C4C"/>
      </a:accent2>
      <a:accent3>
        <a:srgbClr val="26333C"/>
      </a:accent3>
      <a:accent4>
        <a:srgbClr val="C8650D"/>
      </a:accent4>
      <a:accent5>
        <a:srgbClr val="16201C"/>
      </a:accent5>
      <a:accent6>
        <a:srgbClr val="DCE8D7"/>
      </a:accent6>
      <a:hlink>
        <a:srgbClr val="C8650D"/>
      </a:hlink>
      <a:folHlink>
        <a:srgbClr val="C8650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STRA Factory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4569158e8d4c03" /><Relationship Type="http://schemas.openxmlformats.org/officeDocument/2006/relationships/image" Target="/ppt/media/image.png" Id="R31e95fd258154840" /><Relationship Type="http://schemas.openxmlformats.org/officeDocument/2006/relationships/notesSlide" Target="/ppt/notesSlides/notesSlide1.xml" Id="R9f0fd15e20964c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1793d97e3846f7" /><Relationship Type="http://schemas.openxmlformats.org/officeDocument/2006/relationships/image" Target="/ppt/media/image2.png" Id="Ra7ced1320d63406f" /><Relationship Type="http://schemas.openxmlformats.org/officeDocument/2006/relationships/notesSlide" Target="/ppt/notesSlides/notesSlide2.xml" Id="R0a7fb6236ff642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fc15f967144f9c" /><Relationship Type="http://schemas.openxmlformats.org/officeDocument/2006/relationships/image" Target="/ppt/media/image3.png" Id="R89a8360feab54822" /><Relationship Type="http://schemas.openxmlformats.org/officeDocument/2006/relationships/image" Target="/ppt/media/image4.png" Id="R77efa67033784d19" /><Relationship Type="http://schemas.openxmlformats.org/officeDocument/2006/relationships/image" Target="/ppt/media/image5.png" Id="R176a75e3cb0f41e1" /><Relationship Type="http://schemas.openxmlformats.org/officeDocument/2006/relationships/image" Target="/ppt/media/image6.png" Id="R40269191bdb647b9" /><Relationship Type="http://schemas.openxmlformats.org/officeDocument/2006/relationships/notesSlide" Target="/ppt/notesSlides/notesSlide3.xml" Id="Ra069683760aa4f6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b1764543fc4885" /><Relationship Type="http://schemas.openxmlformats.org/officeDocument/2006/relationships/image" Target="/ppt/media/image7.png" Id="Ra3e092a4eb8b4e84" /><Relationship Type="http://schemas.openxmlformats.org/officeDocument/2006/relationships/notesSlide" Target="/ppt/notesSlides/notesSlide4.xml" Id="Ree8de0deed2943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51d6bef4fa4767" /><Relationship Type="http://schemas.openxmlformats.org/officeDocument/2006/relationships/notesSlide" Target="/ppt/notesSlides/notesSlide5.xml" Id="Rdd35036e1c7d4db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aab48294524c6a" /><Relationship Type="http://schemas.openxmlformats.org/officeDocument/2006/relationships/notesSlide" Target="/ppt/notesSlides/notesSlide6.xml" Id="Rd436a97d7265429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87bda6d77c4e24" /><Relationship Type="http://schemas.openxmlformats.org/officeDocument/2006/relationships/image" Target="/ppt/media/image8.png" Id="R6fa912e201514b2e" /><Relationship Type="http://schemas.openxmlformats.org/officeDocument/2006/relationships/notesSlide" Target="/ppt/notesSlides/notesSlide7.xml" Id="R11e9ac43d9ee4d9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71b4044c1146b6" /><Relationship Type="http://schemas.openxmlformats.org/officeDocument/2006/relationships/image" Target="/ppt/media/image9.png" Id="R62eeae715bc04e81" /><Relationship Type="http://schemas.openxmlformats.org/officeDocument/2006/relationships/notesSlide" Target="/ppt/notesSlides/notesSlide8.xml" Id="R0930ad67eef54dc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9C6176-B756-40AA-BC7D-4AFEB33A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7239000" cy="4343400"/>
          </a:xfrm>
          <a:prstGeom xmlns:a="http://schemas.openxmlformats.org/drawingml/2006/main" prst="roundRect">
            <a:avLst>
              <a:gd name="adj" fmla="val 30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D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F8A8F4-DBF1-4BAF-8715-649B7244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697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 i="0">
                <a:solidFill>
                  <a:srgbClr val="6F7A7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F7A73"/>
                </a:solidFill>
                <a:latin typeface="Arial"/>
                <a:ea typeface="Arial"/>
                <a:cs typeface="Arial"/>
              </a:rPr>
              <a:t>FACTORY CONTEXT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e95fd258154840"/>
          <a:stretch xmlns:a="http://schemas.openxmlformats.org/drawingml/2006/main"/>
        </p:blipFill>
        <p:spPr>
          <a:xfrm xmlns:a="http://schemas.openxmlformats.org/drawingml/2006/main">
            <a:off x="516212" y="819150"/>
            <a:ext cx="7006675" cy="3943350"/>
          </a:xfrm>
          <a:prstGeom xmlns:a="http://schemas.openxmlformats.org/drawingml/2006/main" prst="roundRect">
            <a:avLst>
              <a:gd name="adj" fmla="val 2415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F15CB8-038C-432E-923A-C435AF05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0"/>
            <a:ext cx="4552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CF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0526D1-7A16-4031-B9DC-1B061298A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162050"/>
            <a:ext cx="100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28A1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ACEC36-B3F1-4390-8191-5D6B0452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466850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100" b="1" i="0">
                <a:solidFill>
                  <a:srgbClr val="16201C"/>
                </a:solidFill>
                <a:latin typeface="Arial"/>
                <a:ea typeface="Arial"/>
                <a:cs typeface="Arial"/>
              </a:defRPr>
            </a:pPr>
            <a:r>
              <a:rPr sz="5100" b="1" i="0">
                <a:solidFill>
                  <a:srgbClr val="16201C"/>
                </a:solidFill>
                <a:latin typeface="Arial"/>
                <a:ea typeface="Arial"/>
                <a:cs typeface="Arial"/>
              </a:rPr>
              <a:t>ASTRA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ED8F94-6F42-4A5C-BFA3-892066B9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00300"/>
            <a:ext cx="333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000" b="1" i="0">
                <a:solidFill>
                  <a:srgbClr val="16201C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6201C"/>
                </a:solidFill>
                <a:latin typeface="Arial"/>
                <a:ea typeface="Arial"/>
                <a:cs typeface="Arial"/>
              </a:rPr>
              <a:t>Manufacturing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000" b="1" i="0">
                <a:solidFill>
                  <a:srgbClr val="16201C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6201C"/>
                </a:solidFill>
                <a:latin typeface="Arial"/>
                <a:ea typeface="Arial"/>
                <a:cs typeface="Arial"/>
              </a:rPr>
              <a:t>Intelligence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A2108B-C233-4666-B9D4-3BC18512C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90950"/>
            <a:ext cx="314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 i="0">
                <a:solidFill>
                  <a:srgbClr val="6F7A7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F7A73"/>
                </a:solidFill>
                <a:latin typeface="Arial"/>
                <a:ea typeface="Arial"/>
                <a:cs typeface="Arial"/>
              </a:rPr>
              <a:t>A visual inspection and root-cause assistant that connects defects, production flow, and decisions.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18DD8F-DBA9-4526-93BA-88F26EC9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3162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A1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4266C4-7CC7-4A8C-8E2F-17AFF1901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02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INDUSTRIAL AI · PROJECT DECK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57393C-920F-47B6-8DB2-8C8DF4681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8864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 i="0">
                <a:solidFill>
                  <a:srgbClr val="C8650D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C8650D"/>
                </a:solidFill>
                <a:latin typeface="Arial"/>
                <a:ea typeface="Arial"/>
                <a:cs typeface="Arial"/>
              </a:rPr>
              <a:t>NEURAX HACKATHON 3.0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85C4EE-D557-4399-AFF4-B97393235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6153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 i="0">
                <a:solidFill>
                  <a:srgbClr val="9BA59E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9BA59E"/>
                </a:solidFill>
                <a:latin typeface="Arial"/>
                <a:ea typeface="Arial"/>
                <a:cs typeface="Arial"/>
              </a:rPr>
              <a:t>2026 · 8-SLIDE PRODUCT OVERVIEW</a:t>
            </a:r>
          </a:p>
        </p:txBody>
      </p:sp>
    </p:spTree>
    <p:extLst>
      <p:ext uri="{BB962C8B-B14F-4D97-AF65-F5344CB8AC3E}">
        <p14:creationId xmlns:p14="http://schemas.microsoft.com/office/powerpoint/2010/main" val="20137925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0A318F0-03F1-46D8-B787-0261A52D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1" i="0">
                <a:solidFill>
                  <a:srgbClr val="C8650D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C8650D"/>
                </a:solidFill>
                <a:latin typeface="Arial"/>
                <a:ea typeface="Arial"/>
                <a:cs typeface="Arial"/>
              </a:rPr>
              <a:t>THE PRODUCT 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E0ED2C-53BD-4E9B-B381-623E50504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685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150" b="1" i="0">
                <a:solidFill>
                  <a:srgbClr val="16201C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6201C"/>
                </a:solidFill>
                <a:latin typeface="Arial"/>
                <a:ea typeface="Arial"/>
                <a:cs typeface="Arial"/>
              </a:rPr>
              <a:t>ASTRA connects the evidence.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6EC490-554A-46CB-A42B-BED6FE8C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6F7A7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F7A73"/>
                </a:solidFill>
                <a:latin typeface="Arial"/>
                <a:ea typeface="Arial"/>
                <a:cs typeface="Arial"/>
              </a:rPr>
              <a:t>The factory can see the defect. ASTRA follows the evidence until the operator can decide what to test next.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DC2137-F65E-4B6D-9F33-ACC1FD661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5619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1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D01A54-3A5E-44F1-8B11-EC3D5BBA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907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 i="0">
                <a:solidFill>
                  <a:srgbClr val="F28A1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28A1A"/>
                </a:solidFill>
                <a:latin typeface="Arial"/>
                <a:ea typeface="Arial"/>
                <a:cs typeface="Arial"/>
              </a:rPr>
              <a:t>IMAGE → DECISION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611446-6A35-458C-A433-FE1FE7F5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479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152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Defect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9CEC6B-A0D2-4D43-9CF8-DA0F7F01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480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 i="0">
                <a:solidFill>
                  <a:srgbClr val="C5D2C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C5D2C8"/>
                </a:solidFill>
                <a:latin typeface="Arial"/>
                <a:ea typeface="Arial"/>
                <a:cs typeface="Arial"/>
              </a:rPr>
              <a:t>What kind? Where? How reliable?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D81E91-CFA2-4D07-AC88-CDC3E2D6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76625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24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515141-234A-49F9-A45E-9C2FE325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38550"/>
            <a:ext cx="426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2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Then connect the result to production context and a testable hypothesis.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4EB0C3-659B-4446-AB42-5D3B28AF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52600"/>
            <a:ext cx="4838700" cy="2952750"/>
          </a:xfrm>
          <a:prstGeom xmlns:a="http://schemas.openxmlformats.org/drawingml/2006/main" prst="roundRect">
            <a:avLst>
              <a:gd name="adj" fmla="val 4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A519EE-F6D7-47F8-9219-B843F195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8478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 i="0">
                <a:solidFill>
                  <a:srgbClr val="6F7A7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F7A73"/>
                </a:solidFill>
                <a:latin typeface="Arial"/>
                <a:ea typeface="Arial"/>
                <a:cs typeface="Arial"/>
              </a:rPr>
              <a:t>INSPECTION CELL · GENERATED VISUAL</a:t>
            </a:r>
          </a:p>
        </p:txBody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ced1320d63406f"/>
          <a:stretch xmlns:a="http://schemas.openxmlformats.org/drawingml/2006/main"/>
        </p:blipFill>
        <p:spPr>
          <a:xfrm xmlns:a="http://schemas.openxmlformats.org/drawingml/2006/main">
            <a:off x="6819900" y="2076963"/>
            <a:ext cx="4533900" cy="2551675"/>
          </a:xfrm>
          <a:prstGeom xmlns:a="http://schemas.openxmlformats.org/drawingml/2006/main" prst="roundRect">
            <a:avLst>
              <a:gd name="adj" fmla="val 3731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0824B9-F5FB-4CF1-98B1-68A5D8A4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1" i="0">
                <a:solidFill>
                  <a:srgbClr val="C8650D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C8650D"/>
                </a:solidFill>
                <a:latin typeface="Arial"/>
                <a:ea typeface="Arial"/>
                <a:cs typeface="Arial"/>
              </a:rPr>
              <a:t>THE CONNECTED WORKFLOW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B1A94C-28A2-4713-A05A-09861B54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1657350" cy="12192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F28A1A"/>
          </a:solidFill>
          <a:ln xmlns:a="http://schemas.openxmlformats.org/drawingml/2006/main" w="9525">
            <a:solidFill>
              <a:srgbClr val="F28A1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1DE181-290B-4DEF-8EA5-C5FD9BA74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C49260-5083-452F-BBC1-10A2C284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7685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Detect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670886-E675-446E-8909-7B9FDC1F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007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0" i="0">
                <a:solidFill>
                  <a:srgbClr val="FFF8E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FFF8ED"/>
                </a:solidFill>
                <a:latin typeface="Arial"/>
                <a:ea typeface="Arial"/>
                <a:cs typeface="Arial"/>
              </a:rPr>
              <a:t>Class + region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930D5D-8937-4246-8691-22917D79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00600"/>
            <a:ext cx="1657350" cy="12192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CA300C-A1D7-4F04-A010-6BAE78D4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95300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 i="0">
                <a:solidFill>
                  <a:srgbClr val="C8650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8650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81F112-F2FF-4F95-B4F9-65B52C42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27685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 i="0">
                <a:solidFill>
                  <a:srgbClr val="16201C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6201C"/>
                </a:solidFill>
                <a:latin typeface="Arial"/>
                <a:ea typeface="Arial"/>
                <a:cs typeface="Arial"/>
              </a:rPr>
              <a:t>Localize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B9A5A9-0933-48D6-B8CC-5F4419CC3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6007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0" i="0">
                <a:solidFill>
                  <a:srgbClr val="6F7A7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F7A73"/>
                </a:solidFill>
                <a:latin typeface="Arial"/>
                <a:ea typeface="Arial"/>
                <a:cs typeface="Arial"/>
              </a:rPr>
              <a:t>Mask + coordinates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3B066C-CCB9-4324-BAD0-0B018365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800600"/>
            <a:ext cx="1657350" cy="12192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D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1D21D1-5FAF-4D0F-87C2-E0131294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95300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 i="0">
                <a:solidFill>
                  <a:srgbClr val="C8650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8650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766F76-7856-44AF-A3FE-1ACC4622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27685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 i="0">
                <a:solidFill>
                  <a:srgbClr val="16201C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6201C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C4E957-A65C-4F63-99A7-58B5ACE0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6007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0" i="0">
                <a:solidFill>
                  <a:srgbClr val="6F7A7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F7A73"/>
                </a:solidFill>
                <a:latin typeface="Arial"/>
                <a:ea typeface="Arial"/>
                <a:cs typeface="Arial"/>
              </a:rPr>
              <a:t>Independent check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9056C1-9017-4F83-8FE3-C9F0742B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00600"/>
            <a:ext cx="1657350" cy="12192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D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5DF877-9BC1-455B-87C3-D577BBA0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95300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 i="0">
                <a:solidFill>
                  <a:srgbClr val="C8650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8650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1B8CE2-8A51-4E40-B01B-D799D817E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27685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 i="0">
                <a:solidFill>
                  <a:srgbClr val="16201C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6201C"/>
                </a:solidFill>
                <a:latin typeface="Arial"/>
                <a:ea typeface="Arial"/>
                <a:cs typeface="Arial"/>
              </a:rPr>
              <a:t>Investigate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FAD4F6-8209-4787-90D0-BCBCF06E2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6007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0" i="0">
                <a:solidFill>
                  <a:srgbClr val="6F7A7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F7A73"/>
                </a:solidFill>
                <a:latin typeface="Arial"/>
                <a:ea typeface="Arial"/>
                <a:cs typeface="Arial"/>
              </a:rPr>
              <a:t>Batch + context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CE4D7A-CF5C-4D70-983B-75AC7880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800600"/>
            <a:ext cx="1657350" cy="12192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D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73437C-9EFE-4884-9FF1-D36804BD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95300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 i="0">
                <a:solidFill>
                  <a:srgbClr val="C8650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8650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195F69-5BBD-4C2B-9529-1E49B0CCD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27685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 i="0">
                <a:solidFill>
                  <a:srgbClr val="16201C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6201C"/>
                </a:solidFill>
                <a:latin typeface="Arial"/>
                <a:ea typeface="Arial"/>
                <a:cs typeface="Arial"/>
              </a:rPr>
              <a:t>Quantify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08F194-0FB5-492D-9336-22DA8C18A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6007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0" i="0">
                <a:solidFill>
                  <a:srgbClr val="6F7A7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F7A73"/>
                </a:solidFill>
                <a:latin typeface="Arial"/>
                <a:ea typeface="Arial"/>
                <a:cs typeface="Arial"/>
              </a:rPr>
              <a:t>Flow + economics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1F1A872-5BBB-4B54-B80E-14482CCB6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800600"/>
            <a:ext cx="1657350" cy="12192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F28A1A"/>
          </a:solidFill>
          <a:ln xmlns:a="http://schemas.openxmlformats.org/drawingml/2006/main" w="9525">
            <a:solidFill>
              <a:srgbClr val="F28A1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7385C9-C0CD-4A71-9C82-2806CB76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95300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71E79F-EB06-4EEF-B6FA-BE8C4ACA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27685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Simulate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BD53CB-C5C8-4C99-B9D5-F79DE569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6007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0" i="0">
                <a:solidFill>
                  <a:srgbClr val="FFF8E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FFF8ED"/>
                </a:solidFill>
                <a:latin typeface="Arial"/>
                <a:ea typeface="Arial"/>
                <a:cs typeface="Arial"/>
              </a:rPr>
              <a:t>Advisory what-if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E171C53-66D6-493C-9E56-FA04A1DC2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410200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28A1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EB80B80-5D2A-4B46-A5BD-9FDFE2749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5362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A1A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0AD8915-6A28-44F4-B194-611456749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410200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28A1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C5EB09D-8CFB-40CB-B6E0-44D60BF7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362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A1A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7E04C34-5F4B-4C41-A9F4-C1756EC68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410200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28A1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8E7073E-8CF3-4DEF-B0C4-E2681E5F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5362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A1A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EA286DB-29E3-4F8B-A574-D5F472CA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410200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28A1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72F54FB-86A4-4E4A-80A2-5A54A34EC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5362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A1A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D227D19-11EB-455B-921B-17C8940B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410200"/>
            <a:ext cx="7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28A1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F2022A1-E6E3-4547-A51B-EB5441BB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5362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A1A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00BF9B2-4AAD-4B72-A0DD-B393D4D2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DE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A076D78-81FD-42C8-A479-183EBFAC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1" i="0">
                <a:solidFill>
                  <a:srgbClr val="6F7A7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F7A73"/>
                </a:solidFill>
                <a:latin typeface="Arial"/>
                <a:ea typeface="Arial"/>
                <a:cs typeface="Arial"/>
              </a:rPr>
              <a:t>A  ASTRA INTELLIGENCE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2A9D29F-18CA-4C09-94C4-738543890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5722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825" b="0" i="0">
                <a:solidFill>
                  <a:srgbClr val="9BA59E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9BA59E"/>
                </a:solidFill>
                <a:latin typeface="Arial"/>
                <a:ea typeface="Arial"/>
                <a:cs typeface="Arial"/>
              </a:rPr>
              <a:t>Built around evidence. Designed for better decisions.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02B95E6-3D2C-448F-B3F3-863F1073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825" b="1" i="0">
                <a:solidFill>
                  <a:srgbClr val="6F7A7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F7A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877380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4223A51-A319-443C-B619-C4D14229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1" i="0">
                <a:solidFill>
                  <a:srgbClr val="C8650D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C8650D"/>
                </a:solidFill>
                <a:latin typeface="Arial"/>
                <a:ea typeface="Arial"/>
                <a:cs typeface="Arial"/>
              </a:rPr>
              <a:t>FEATURE 01 + 02 · OVERVIEW AND INSPECTION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84AA9A-ADE5-466A-BEE1-C063C80A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723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150" b="1" i="0">
                <a:solidFill>
                  <a:srgbClr val="16201C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6201C"/>
                </a:solidFill>
                <a:latin typeface="Arial"/>
                <a:ea typeface="Arial"/>
                <a:cs typeface="Arial"/>
              </a:rPr>
              <a:t>From overview to evidence.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F2BB22-42AD-4EBA-8998-93DF7D57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0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6F7A7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F7A73"/>
                </a:solidFill>
                <a:latin typeface="Arial"/>
                <a:ea typeface="Arial"/>
                <a:cs typeface="Arial"/>
              </a:rPr>
              <a:t>The home screen shows the operating picture. Inspection keeps the original, annotated result, and mask together so the operator can verify the label.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104EFE-0AAA-412C-9A71-C78481ED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6477000" cy="34671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B4A401-7DCC-44A9-BD96-8884976F2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6210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 i="0">
                <a:solidFill>
                  <a:srgbClr val="6F7A7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F7A73"/>
                </a:solidFill>
                <a:latin typeface="Arial"/>
                <a:ea typeface="Arial"/>
                <a:cs typeface="Arial"/>
              </a:rPr>
              <a:t>ASTRA OVERVIEW · LIVE PRODUCT RENDER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a8360feab54822"/>
          <a:stretch xmlns:a="http://schemas.openxmlformats.org/drawingml/2006/main"/>
        </p:blipFill>
        <p:spPr>
          <a:xfrm xmlns:a="http://schemas.openxmlformats.org/drawingml/2006/main">
            <a:off x="842108" y="2114550"/>
            <a:ext cx="6164385" cy="3048000"/>
          </a:xfrm>
          <a:prstGeom xmlns:a="http://schemas.openxmlformats.org/drawingml/2006/main" prst="roundRect">
            <a:avLst>
              <a:gd name="adj" fmla="val 3125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F5A425-4DAA-4BB6-BE7D-0F246E69C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790700"/>
            <a:ext cx="4038600" cy="34671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0FC94D-5416-45C6-B33C-BC12BD41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885950"/>
            <a:ext cx="3771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 i="0">
                <a:solidFill>
                  <a:srgbClr val="6F7A7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F7A73"/>
                </a:solidFill>
                <a:latin typeface="Arial"/>
                <a:ea typeface="Arial"/>
                <a:cs typeface="Arial"/>
              </a:rPr>
              <a:t>INSPECTION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00FA3F-86DB-4583-90CF-9B008A70D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17170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750" b="1" i="0">
                <a:solidFill>
                  <a:srgbClr val="6F7A73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F7A73"/>
                </a:solidFill>
                <a:latin typeface="Arial"/>
                <a:ea typeface="Arial"/>
                <a:cs typeface="Arial"/>
              </a:rPr>
              <a:t>ORIGINAL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efa67033784d19"/>
          <a:stretch xmlns:a="http://schemas.openxmlformats.org/drawingml/2006/main"/>
        </p:blipFill>
        <p:spPr>
          <a:xfrm xmlns:a="http://schemas.openxmlformats.org/drawingml/2006/main">
            <a:off x="7639050" y="2400300"/>
            <a:ext cx="1047750" cy="1047750"/>
          </a:xfrm>
          <a:prstGeom xmlns:a="http://schemas.openxmlformats.org/drawingml/2006/main" prst="roundRect">
            <a:avLst>
              <a:gd name="adj" fmla="val 7273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E2BA38-5853-4C67-9E40-856A0730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17170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750" b="1" i="0">
                <a:solidFill>
                  <a:srgbClr val="6F7A73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F7A73"/>
                </a:solidFill>
                <a:latin typeface="Arial"/>
                <a:ea typeface="Arial"/>
                <a:cs typeface="Arial"/>
              </a:rPr>
              <a:t>ANNOTATED</a:t>
            </a:r>
          </a:p>
        </p:txBody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6a75e3cb0f41e1"/>
          <a:stretch xmlns:a="http://schemas.openxmlformats.org/drawingml/2006/main"/>
        </p:blipFill>
        <p:spPr>
          <a:xfrm xmlns:a="http://schemas.openxmlformats.org/drawingml/2006/main">
            <a:off x="8896350" y="2400300"/>
            <a:ext cx="1047750" cy="1047750"/>
          </a:xfrm>
          <a:prstGeom xmlns:a="http://schemas.openxmlformats.org/drawingml/2006/main" prst="roundRect">
            <a:avLst>
              <a:gd name="adj" fmla="val 7273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EBD148-B1CE-4BA0-8D8E-05CF2E38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171700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750" b="1" i="0">
                <a:solidFill>
                  <a:srgbClr val="6F7A73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F7A73"/>
                </a:solidFill>
                <a:latin typeface="Arial"/>
                <a:ea typeface="Arial"/>
                <a:cs typeface="Arial"/>
              </a:rPr>
              <a:t>MASK</a:t>
            </a:r>
          </a:p>
        </p:txBody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269191bdb647b9"/>
          <a:stretch xmlns:a="http://schemas.openxmlformats.org/drawingml/2006/main"/>
        </p:blipFill>
        <p:spPr>
          <a:xfrm xmlns:a="http://schemas.openxmlformats.org/drawingml/2006/main">
            <a:off x="10153650" y="2400300"/>
            <a:ext cx="1047750" cy="1047750"/>
          </a:xfrm>
          <a:prstGeom xmlns:a="http://schemas.openxmlformats.org/drawingml/2006/main" prst="roundRect">
            <a:avLst>
              <a:gd name="adj" fmla="val 7273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7170F6-CAB7-4922-B470-F092E0013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7147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750" b="1" i="0">
                <a:solidFill>
                  <a:srgbClr val="C8650D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C8650D"/>
                </a:solidFill>
                <a:latin typeface="Arial"/>
                <a:ea typeface="Arial"/>
                <a:cs typeface="Arial"/>
              </a:rPr>
              <a:t>PRIMARY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752E6F-DFBF-4792-8CAC-88AD1E97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9433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08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 i="0">
                <a:solidFill>
                  <a:srgbClr val="16201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6201C"/>
                </a:solidFill>
                <a:latin typeface="Arial"/>
                <a:ea typeface="Arial"/>
                <a:cs typeface="Arial"/>
              </a:rPr>
              <a:t>Hole · 40%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9C0771-587A-4F63-BDAB-D2C1E95A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7147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750" b="1" i="0">
                <a:solidFill>
                  <a:srgbClr val="C8650D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C8650D"/>
                </a:solidFill>
                <a:latin typeface="Arial"/>
                <a:ea typeface="Arial"/>
                <a:cs typeface="Arial"/>
              </a:rPr>
              <a:t>SECONDARY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EEB42E-CAA6-454F-8BA6-4A5D9C947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433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08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 i="0">
                <a:solidFill>
                  <a:srgbClr val="16201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6201C"/>
                </a:solidFill>
                <a:latin typeface="Arial"/>
                <a:ea typeface="Arial"/>
                <a:cs typeface="Arial"/>
              </a:rPr>
              <a:t>Rust · 20%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54ADF2-3606-4C6C-B505-3E5CD9F5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714750"/>
            <a:ext cx="1200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750" b="1" i="0">
                <a:solidFill>
                  <a:srgbClr val="C8650D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C8650D"/>
                </a:solidFill>
                <a:latin typeface="Arial"/>
                <a:ea typeface="Arial"/>
                <a:cs typeface="Arial"/>
              </a:rPr>
              <a:t>MAX COVERAGE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468169-4CA2-4187-AEC6-A28BA0F0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94335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08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 i="0">
                <a:solidFill>
                  <a:srgbClr val="16201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6201C"/>
                </a:solidFill>
                <a:latin typeface="Arial"/>
                <a:ea typeface="Arial"/>
                <a:cs typeface="Arial"/>
              </a:rPr>
              <a:t>65.75%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C4F946-9C6D-453F-92AD-6C09E0209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247650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D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BBD06C-80C1-4C8D-835B-BB051AE0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435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1" i="0">
                <a:solidFill>
                  <a:srgbClr val="6F7A7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F7A73"/>
                </a:solidFill>
                <a:latin typeface="Arial"/>
                <a:ea typeface="Arial"/>
                <a:cs typeface="Arial"/>
              </a:rPr>
              <a:t>UPLOADED SAMPLES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1DBE85-9EBB-4BCC-8851-6EAE7487C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5310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250" b="1" i="0">
                <a:solidFill>
                  <a:srgbClr val="16201C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6201C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B36F9D-A4AC-48D7-9FC1-948932CD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21030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 i="0">
                <a:solidFill>
                  <a:srgbClr val="6F7A73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F7A73"/>
                </a:solidFill>
                <a:latin typeface="Arial"/>
                <a:ea typeface="Arial"/>
                <a:cs typeface="Arial"/>
              </a:rPr>
              <a:t>real images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2E877E-EDB9-42E6-870C-BE36A4D0C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391150"/>
            <a:ext cx="247650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D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E957B6-2785-4C79-AAE0-D3C91D12E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5435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1" i="0">
                <a:solidFill>
                  <a:srgbClr val="6F7A7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F7A73"/>
                </a:solidFill>
                <a:latin typeface="Arial"/>
                <a:ea typeface="Arial"/>
                <a:cs typeface="Arial"/>
              </a:rPr>
              <a:t>DEFECTS FOUND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80B04E-117E-4EA4-B81B-20C71B802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75310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250" b="1" i="0">
                <a:solidFill>
                  <a:srgbClr val="16201C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6201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225AD3-E767-4D5D-908E-346E4832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621030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 i="0">
                <a:solidFill>
                  <a:srgbClr val="6F7A73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F7A73"/>
                </a:solidFill>
                <a:latin typeface="Arial"/>
                <a:ea typeface="Arial"/>
                <a:cs typeface="Arial"/>
              </a:rPr>
              <a:t>80% of batch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99BE8C-5323-4DA2-A8BB-2879506F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391150"/>
            <a:ext cx="247650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D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07C9A9-9BD7-47CA-B568-8B1559AB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54355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1" i="0">
                <a:solidFill>
                  <a:srgbClr val="6F7A7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F7A73"/>
                </a:solidFill>
                <a:latin typeface="Arial"/>
                <a:ea typeface="Arial"/>
                <a:cs typeface="Arial"/>
              </a:rPr>
              <a:t>ACTIVE CLASSES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3CEDDF-A4F8-4EAA-9D71-32B84B9B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75310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250" b="1" i="0">
                <a:solidFill>
                  <a:srgbClr val="16201C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6201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D6939F-3C2D-4E66-B0CA-9D641262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6210300"/>
            <a:ext cx="2133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 i="0">
                <a:solidFill>
                  <a:srgbClr val="6F7A73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F7A73"/>
                </a:solidFill>
                <a:latin typeface="Arial"/>
                <a:ea typeface="Arial"/>
                <a:cs typeface="Arial"/>
              </a:rPr>
              <a:t>includes unknown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9FBEA6-B5FD-40F8-8E8F-57D070E8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391150"/>
            <a:ext cx="287655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D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D1749B-2D67-4D4C-990D-25708236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543550"/>
            <a:ext cx="2533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1" i="0">
                <a:solidFill>
                  <a:srgbClr val="6F7A7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F7A73"/>
                </a:solidFill>
                <a:latin typeface="Arial"/>
                <a:ea typeface="Arial"/>
                <a:cs typeface="Arial"/>
              </a:rPr>
              <a:t>EVIDENCE CHAIN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0E3C25-1C38-43D8-BFFE-CFAD70DC3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753100"/>
            <a:ext cx="2533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 i="0">
                <a:solidFill>
                  <a:srgbClr val="16201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6201C"/>
                </a:solidFill>
                <a:latin typeface="Arial"/>
                <a:ea typeface="Arial"/>
                <a:cs typeface="Arial"/>
              </a:rPr>
              <a:t>Original → mask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31B516-7F11-48EA-9FCC-12950452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6210300"/>
            <a:ext cx="2533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 i="0">
                <a:solidFill>
                  <a:srgbClr val="6F7A73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F7A73"/>
                </a:solidFill>
                <a:latin typeface="Arial"/>
                <a:ea typeface="Arial"/>
                <a:cs typeface="Arial"/>
              </a:rPr>
              <a:t>one inspection record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C3A694-2F24-4795-B8E9-EDEE8270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D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A79CA38-8553-4D2F-8AD9-D346D6199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1" i="0">
                <a:solidFill>
                  <a:srgbClr val="6F7A7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F7A73"/>
                </a:solidFill>
                <a:latin typeface="Arial"/>
                <a:ea typeface="Arial"/>
                <a:cs typeface="Arial"/>
              </a:rPr>
              <a:t>A  ASTRA INTELLIGENCE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E3A1318-E798-4FAA-8ABF-41C0FF77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5722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825" b="0" i="0">
                <a:solidFill>
                  <a:srgbClr val="9BA59E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9BA59E"/>
                </a:solidFill>
                <a:latin typeface="Arial"/>
                <a:ea typeface="Arial"/>
                <a:cs typeface="Arial"/>
              </a:rPr>
              <a:t>Built around evidence. Designed for better decisions.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A14CB5B-EA63-4F9B-B344-F388BDDBD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825" b="1" i="0">
                <a:solidFill>
                  <a:srgbClr val="6F7A7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F7A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847698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97000E-4228-45B1-9828-D8784645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1" i="0">
                <a:solidFill>
                  <a:srgbClr val="C8650D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C8650D"/>
                </a:solidFill>
                <a:latin typeface="Arial"/>
                <a:ea typeface="Arial"/>
                <a:cs typeface="Arial"/>
              </a:rPr>
              <a:t>FEATURE 03 + 04 · PRODUCTION AND INVESTIGATIONS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3EC767-00C1-431B-8B48-6AC00759B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00" b="1" i="0">
                <a:solidFill>
                  <a:srgbClr val="16201C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6201C"/>
                </a:solidFill>
                <a:latin typeface="Arial"/>
                <a:ea typeface="Arial"/>
                <a:cs typeface="Arial"/>
              </a:rPr>
              <a:t>Production signals explain the next question.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603F6D-5E36-4B34-B107-A8E6DA78E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6F7A7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F7A73"/>
                </a:solidFill>
                <a:latin typeface="Arial"/>
                <a:ea typeface="Arial"/>
                <a:cs typeface="Arial"/>
              </a:rPr>
              <a:t>ASTRA ranks constraints from the signals that exist, then keeps measured context, hypotheses, and missing joins visibly separate.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032B2D-79C9-4002-98AC-E12A06D26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953000" cy="3829050"/>
          </a:xfrm>
          <a:prstGeom xmlns:a="http://schemas.openxmlformats.org/drawingml/2006/main" prst="roundRect">
            <a:avLst>
              <a:gd name="adj" fmla="val 34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AEA8B6-50D5-45AA-9026-D466FA9D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81200"/>
            <a:ext cx="468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 i="0">
                <a:solidFill>
                  <a:srgbClr val="6F7A7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F7A73"/>
                </a:solidFill>
                <a:latin typeface="Arial"/>
                <a:ea typeface="Arial"/>
                <a:cs typeface="Arial"/>
              </a:rPr>
              <a:t>3D TWIN · SUB-ASSEMBLY PLANT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e092a4eb8b4e84"/>
          <a:stretch xmlns:a="http://schemas.openxmlformats.org/drawingml/2006/main"/>
        </p:blipFill>
        <p:spPr>
          <a:xfrm xmlns:a="http://schemas.openxmlformats.org/drawingml/2006/main">
            <a:off x="844296" y="2247900"/>
            <a:ext cx="4636008" cy="3219450"/>
          </a:xfrm>
          <a:prstGeom xmlns:a="http://schemas.openxmlformats.org/drawingml/2006/main" prst="roundRect">
            <a:avLst>
              <a:gd name="adj" fmla="val 2959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98118D-C803-4A70-A409-F05A7A1B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85950"/>
            <a:ext cx="556260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92F547-23E9-49B3-BCD1-FCA532F91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717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 i="0">
                <a:solidFill>
                  <a:srgbClr val="C8650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C8650D"/>
                </a:solidFill>
                <a:latin typeface="Arial"/>
                <a:ea typeface="Arial"/>
                <a:cs typeface="Arial"/>
              </a:rPr>
              <a:t>MEASURED PRODUCTION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48A6E8-0E41-4E88-8D72-9ACAC2D0B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574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291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 i="0">
                <a:solidFill>
                  <a:srgbClr val="16201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6201C"/>
                </a:solidFill>
                <a:latin typeface="Arial"/>
                <a:ea typeface="Arial"/>
                <a:cs typeface="Arial"/>
              </a:rPr>
              <a:t>Model_2.csv · row 2048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DDAA51-AD2B-4157-B8A9-FD514E07E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5750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D2A0D7-2971-4389-9C91-7779ECCC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670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0" i="0">
                <a:solidFill>
                  <a:srgbClr val="6F7A7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F7A73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DC88EC-77A8-460A-A519-2CC86596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0990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575" b="1" i="0">
                <a:solidFill>
                  <a:srgbClr val="16201C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6201C"/>
                </a:solidFill>
                <a:latin typeface="Arial"/>
                <a:ea typeface="Arial"/>
                <a:cs typeface="Arial"/>
              </a:rPr>
              <a:t>1,338 parts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76E96A-F0A9-41A8-9091-F9683351E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290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0" i="0">
                <a:solidFill>
                  <a:srgbClr val="6F7A7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F7A73"/>
                </a:solidFill>
                <a:latin typeface="Arial"/>
                <a:ea typeface="Arial"/>
                <a:cs typeface="Arial"/>
              </a:rPr>
              <a:t>Work in progress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9023DE-C3D9-4EDD-97B3-98F109AAB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371850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575" b="1" i="0">
                <a:solidFill>
                  <a:srgbClr val="16201C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6201C"/>
                </a:solidFill>
                <a:latin typeface="Arial"/>
                <a:ea typeface="Arial"/>
                <a:cs typeface="Arial"/>
              </a:rPr>
              <a:t>188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CFC1AC-B740-4FA4-ADCB-876B01EB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9095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0" i="0">
                <a:solidFill>
                  <a:srgbClr val="6F7A7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F7A73"/>
                </a:solidFill>
                <a:latin typeface="Arial"/>
                <a:ea typeface="Arial"/>
                <a:cs typeface="Arial"/>
              </a:rPr>
              <a:t>Constraint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962783-FC78-440C-B89D-08EA35BB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733800"/>
            <a:ext cx="177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425" b="1" i="0">
                <a:solidFill>
                  <a:srgbClr val="C8650D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C8650D"/>
                </a:solidFill>
                <a:latin typeface="Arial"/>
                <a:ea typeface="Arial"/>
                <a:cs typeface="Arial"/>
              </a:rPr>
              <a:t>Assembly · 80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0F9DE3-7192-4119-802C-47A6F075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71950"/>
            <a:ext cx="491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D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E99B17-A7FA-4034-A5EA-87A7F577B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343400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D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1905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8650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8650D"/>
                </a:solidFill>
                <a:latin typeface="Arial"/>
                <a:ea typeface="Arial"/>
                <a:cs typeface="Arial"/>
              </a:rPr>
              <a:t>INVESTIGATION · MODERATE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E709A7-56CC-4D17-BC65-C3B39F3BE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7625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 i="0">
                <a:solidFill>
                  <a:srgbClr val="16201C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6201C"/>
                </a:solidFill>
                <a:latin typeface="Arial"/>
                <a:ea typeface="Arial"/>
                <a:cs typeface="Arial"/>
              </a:rPr>
              <a:t>Hole · drilling / punching / blanking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76D4E3-50F8-4B60-8BA3-01B8DB5C0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12445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0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F7A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F7A73"/>
                </a:solidFill>
                <a:latin typeface="Arial"/>
                <a:ea typeface="Arial"/>
                <a:cs typeface="Arial"/>
              </a:rPr>
              <a:t>Drilling utilization 0.093045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F7A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F7A73"/>
                </a:solidFill>
                <a:latin typeface="Arial"/>
                <a:ea typeface="Arial"/>
                <a:cs typeface="Arial"/>
              </a:rPr>
              <a:t>Empirical percentile 3.03th · critical outlier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 i="0">
                <a:solidFill>
                  <a:srgbClr val="6F7A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F7A73"/>
                </a:solidFill>
                <a:latin typeface="Arial"/>
                <a:ea typeface="Arial"/>
                <a:cs typeface="Arial"/>
              </a:rPr>
              <a:t>Direct unit-to-machine join · unavailable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C3F105-3A8E-4545-BAC9-5A1D804A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D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D2BF43-45AA-4983-8A52-26B28327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1" i="0">
                <a:solidFill>
                  <a:srgbClr val="6F7A7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F7A73"/>
                </a:solidFill>
                <a:latin typeface="Arial"/>
                <a:ea typeface="Arial"/>
                <a:cs typeface="Arial"/>
              </a:rPr>
              <a:t>A  ASTRA INTELLIGENCE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6EA92C-6E34-401F-AB9D-BEA1359D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5722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825" b="0" i="0">
                <a:solidFill>
                  <a:srgbClr val="9BA59E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9BA59E"/>
                </a:solidFill>
                <a:latin typeface="Arial"/>
                <a:ea typeface="Arial"/>
                <a:cs typeface="Arial"/>
              </a:rPr>
              <a:t>Built around evidence. Designed for better decisions.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B6A9A6-EBE9-4ED7-A152-60D6107C8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825" b="1" i="0">
                <a:solidFill>
                  <a:srgbClr val="6F7A7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F7A7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534503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25ED482-87B1-4A0C-BACE-EC4C78B4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1" i="0">
                <a:solidFill>
                  <a:srgbClr val="C8650D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C8650D"/>
                </a:solidFill>
                <a:latin typeface="Arial"/>
                <a:ea typeface="Arial"/>
                <a:cs typeface="Arial"/>
              </a:rPr>
              <a:t>FEATURE 05 + 06 · SIMULATION AND TRUST LAYER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CBC145-A600-4BF6-82D3-BFFB6B808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 i="0">
                <a:solidFill>
                  <a:srgbClr val="16201C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6201C"/>
                </a:solidFill>
                <a:latin typeface="Arial"/>
                <a:ea typeface="Arial"/>
                <a:cs typeface="Arial"/>
              </a:rPr>
              <a:t>Simulation stays advisory. The system keeps a record.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8E68A0-3FFD-4CBD-9480-8CB308D1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0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6F7A7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F7A73"/>
                </a:solidFill>
                <a:latin typeface="Arial"/>
                <a:ea typeface="Arial"/>
                <a:cs typeface="Arial"/>
              </a:rPr>
              <a:t>ASTRA compares a request with observed scenarios, preserves the batch context, and exposes the health and request trail around the result.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103D05-1F37-46D0-8863-EF47814F3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3638550" cy="2952750"/>
          </a:xfrm>
          <a:prstGeom xmlns:a="http://schemas.openxmlformats.org/drawingml/2006/main" prst="roundRect">
            <a:avLst>
              <a:gd name="adj" fmla="val 4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DE6C9D-1946-4423-9A93-2D06967E9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717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 i="0">
                <a:solidFill>
                  <a:srgbClr val="C8650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C8650D"/>
                </a:solidFill>
                <a:latin typeface="Arial"/>
                <a:ea typeface="Arial"/>
                <a:cs typeface="Arial"/>
              </a:rPr>
              <a:t>SHAPE AN ALTERNATIVE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2B8A5-5F43-438D-B822-71D023314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098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 i="0">
                <a:solidFill>
                  <a:srgbClr val="16201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201C"/>
                </a:solidFill>
                <a:latin typeface="Arial"/>
                <a:ea typeface="Arial"/>
                <a:cs typeface="Arial"/>
              </a:rPr>
              <a:t>Constraint capacity increase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AC01AA-5622-442A-968B-FE23F72D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552700"/>
            <a:ext cx="72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759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950" b="1" i="0">
                <a:solidFill>
                  <a:srgbClr val="466C4C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466C4C"/>
                </a:solidFill>
                <a:latin typeface="Arial"/>
                <a:ea typeface="Arial"/>
                <a:cs typeface="Arial"/>
              </a:rPr>
              <a:t>+15%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E8E04E-3958-471E-A3CB-859985342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9900"/>
            <a:ext cx="2647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3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4181B7-54C6-4E67-8680-CBD8CC22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33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A1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024DD6-1EEB-4887-A6F9-FE17A5C8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 i="0">
                <a:solidFill>
                  <a:srgbClr val="16201C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6201C"/>
                </a:solidFill>
                <a:latin typeface="Arial"/>
                <a:ea typeface="Arial"/>
                <a:cs typeface="Arial"/>
              </a:rPr>
              <a:t>Target demand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6B7F26-335B-4234-AE7B-9889495C5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33800"/>
            <a:ext cx="29718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AF1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0A29E0-9AA2-4D27-8B15-812C0A0D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671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647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 i="0">
                <a:solidFill>
                  <a:srgbClr val="16201C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6201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28AC4B-445A-48BA-9229-0425C210A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886200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 i="0">
                <a:solidFill>
                  <a:srgbClr val="6F7A73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F7A73"/>
                </a:solidFill>
                <a:latin typeface="Arial"/>
                <a:ea typeface="Arial"/>
                <a:cs typeface="Arial"/>
              </a:rPr>
              <a:t>dataset units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BD00C5-3B99-4452-914B-F06F69F8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19600"/>
            <a:ext cx="29718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11A1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AF903F-6DF2-4FF2-B7D6-8C31D195A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43425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RUN WHAT-IF SIMULATION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654256-DB62-4450-A893-BFC043EF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885950"/>
            <a:ext cx="68961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D693D1-E5B3-4D38-A552-1795FA60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717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 i="0">
                <a:solidFill>
                  <a:srgbClr val="466C4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466C4C"/>
                </a:solidFill>
                <a:latin typeface="Arial"/>
                <a:ea typeface="Arial"/>
                <a:cs typeface="Arial"/>
              </a:rPr>
              <a:t>CLOSEST OBSERVED ALTERNATIVE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C9EC8A-F34F-4BA4-AB29-F0F077417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336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590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4350" b="1" i="0">
                <a:solidFill>
                  <a:srgbClr val="16201C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16201C"/>
                </a:solidFill>
                <a:latin typeface="Arial"/>
                <a:ea typeface="Arial"/>
                <a:cs typeface="Arial"/>
              </a:rPr>
              <a:t>SC-0007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3F2E76-D5FF-42C4-A3A5-1DF60873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781300"/>
            <a:ext cx="1066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050" b="0" i="0">
                <a:solidFill>
                  <a:srgbClr val="6F7A7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F7A73"/>
                </a:solidFill>
                <a:latin typeface="Arial"/>
                <a:ea typeface="Arial"/>
                <a:cs typeface="Arial"/>
              </a:rPr>
              <a:t>distance 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790245-12AC-4989-8628-52073768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43250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8D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BF1DDE-9862-4FD0-89B3-90A82F087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290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0" i="0">
                <a:solidFill>
                  <a:srgbClr val="6F7A7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F7A73"/>
                </a:solidFill>
                <a:latin typeface="Arial"/>
                <a:ea typeface="Arial"/>
                <a:cs typeface="Arial"/>
              </a:rPr>
              <a:t>Demand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283598-2799-42B8-9AAA-52B247DCE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718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75" b="1" i="0">
                <a:solidFill>
                  <a:srgbClr val="16201C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6201C"/>
                </a:solidFill>
                <a:latin typeface="Arial"/>
                <a:ea typeface="Arial"/>
                <a:cs typeface="Arial"/>
              </a:rPr>
              <a:t>2  →  requested 2  →  matched 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0E1977-A2F2-4C2B-945C-3C5AF70A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00500"/>
            <a:ext cx="59055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52F163-6CDB-441C-AD99-644F9BD0B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71950"/>
            <a:ext cx="537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0" i="0">
                <a:solidFill>
                  <a:srgbClr val="6F7A7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F7A73"/>
                </a:solidFill>
                <a:latin typeface="Arial"/>
                <a:ea typeface="Arial"/>
                <a:cs typeface="Arial"/>
              </a:rPr>
              <a:t>Nearest-neighbor matching does not establish causality.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BB1D0B-38F8-4D55-B49F-ADB00087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3333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16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539266-0B33-43B7-8BAD-159B315B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5305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1" i="0">
                <a:solidFill>
                  <a:srgbClr val="F28A1A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28A1A"/>
                </a:solidFill>
                <a:latin typeface="Arial"/>
                <a:ea typeface="Arial"/>
                <a:cs typeface="Arial"/>
              </a:rPr>
              <a:t>BATCHES + MODELS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107D6A-6552-4752-B981-19DA3D9A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19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30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Persisted context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F7DDF8-CC12-40EC-92C4-BFD7E139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9245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0" i="0">
                <a:solidFill>
                  <a:srgbClr val="C5D2C8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C5D2C8"/>
                </a:solidFill>
                <a:latin typeface="Arial"/>
                <a:ea typeface="Arial"/>
                <a:cs typeface="Arial"/>
              </a:rPr>
              <a:t>images · artifacts · scenario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BB48BA-59AD-4EDA-A1C5-237E610E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124450"/>
            <a:ext cx="3333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5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8E4DD3-86CF-420D-B520-2ACC8DC68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35305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1" i="0">
                <a:solidFill>
                  <a:srgbClr val="466C4C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466C4C"/>
                </a:solidFill>
                <a:latin typeface="Arial"/>
                <a:ea typeface="Arial"/>
                <a:cs typeface="Arial"/>
              </a:rPr>
              <a:t>SYSTEM HEALTH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9FCF9F-9118-4B00-BCED-845C4FB00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6197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30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1" i="0">
                <a:solidFill>
                  <a:srgbClr val="16201C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6201C"/>
                </a:solidFill>
                <a:latin typeface="Arial"/>
                <a:ea typeface="Arial"/>
                <a:cs typeface="Arial"/>
              </a:rPr>
              <a:t>Healthy · AGY ready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78C611-1E13-4E0B-B41E-9A1A424E3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92455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0" i="0">
                <a:solidFill>
                  <a:srgbClr val="6F7A7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F7A73"/>
                </a:solidFill>
                <a:latin typeface="Arial"/>
                <a:ea typeface="Arial"/>
                <a:cs typeface="Arial"/>
              </a:rPr>
              <a:t>API · vision · production · assistant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0E5A887-A97B-476F-9286-820622D4C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24450"/>
            <a:ext cx="3543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D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179326-FAA8-425E-BDFF-5C0F3228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35305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1" i="0">
                <a:solidFill>
                  <a:srgbClr val="C8650D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C8650D"/>
                </a:solidFill>
                <a:latin typeface="Arial"/>
                <a:ea typeface="Arial"/>
                <a:cs typeface="Arial"/>
              </a:rPr>
              <a:t>DEVELOPER LOGS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AB655F-D604-45DE-964E-F46E24A1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6197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30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1" i="0">
                <a:solidFill>
                  <a:srgbClr val="16201C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6201C"/>
                </a:solidFill>
                <a:latin typeface="Arial"/>
                <a:ea typeface="Arial"/>
                <a:cs typeface="Arial"/>
              </a:rPr>
              <a:t>Runtime diagnostics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16A662F-3FE1-4694-B9BD-AD3A05A57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9245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0" i="0">
                <a:solidFill>
                  <a:srgbClr val="6F7A7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F7A73"/>
                </a:solidFill>
                <a:latin typeface="Arial"/>
                <a:ea typeface="Arial"/>
                <a:cs typeface="Arial"/>
              </a:rPr>
              <a:t>1 successful · 0 failed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458199D-CEE8-4BA8-B2EB-84733992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D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AB19FBB-3725-491C-872D-C5189B6B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1" i="0">
                <a:solidFill>
                  <a:srgbClr val="6F7A7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F7A73"/>
                </a:solidFill>
                <a:latin typeface="Arial"/>
                <a:ea typeface="Arial"/>
                <a:cs typeface="Arial"/>
              </a:rPr>
              <a:t>A  ASTRA INTELLIGENCE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5E8985E-2E72-47E2-A547-DB2E1B51B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5722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825" b="0" i="0">
                <a:solidFill>
                  <a:srgbClr val="9BA59E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9BA59E"/>
                </a:solidFill>
                <a:latin typeface="Arial"/>
                <a:ea typeface="Arial"/>
                <a:cs typeface="Arial"/>
              </a:rPr>
              <a:t>Built around evidence. Designed for better decisions.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848D920-3721-449A-991D-AF1684E9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825" b="1" i="0">
                <a:solidFill>
                  <a:srgbClr val="6F7A7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F7A7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958435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A06BDD9-A89B-4149-B9A5-4512C272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1" i="0">
                <a:solidFill>
                  <a:srgbClr val="C8650D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C8650D"/>
                </a:solidFill>
                <a:latin typeface="Arial"/>
                <a:ea typeface="Arial"/>
                <a:cs typeface="Arial"/>
              </a:rPr>
              <a:t>HOW ASTRA CONNECTS THE FACTORY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D4D7FC-8F67-470A-BAC3-1223AF3E3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850" b="1" i="0">
                <a:solidFill>
                  <a:srgbClr val="16201C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6201C"/>
                </a:solidFill>
                <a:latin typeface="Arial"/>
                <a:ea typeface="Arial"/>
                <a:cs typeface="Arial"/>
              </a:rPr>
              <a:t>Quality, flow, and economics converge at the decision layer.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6A90D4-55C9-45DA-B841-73A4CB41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6F7A7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F7A73"/>
                </a:solidFill>
                <a:latin typeface="Arial"/>
                <a:ea typeface="Arial"/>
                <a:cs typeface="Arial"/>
              </a:rPr>
              <a:t>Separate evidence streams become useful when ASTRA keeps them distinct, then combines them at the decision layer.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CCFD8F-1D87-4F6E-B536-5CF29AE02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2533650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8152EA-2BF7-4884-A9AA-7A69DE17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479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 i="0">
                <a:solidFill>
                  <a:srgbClr val="C8650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C8650D"/>
                </a:solidFill>
                <a:latin typeface="Arial"/>
                <a:ea typeface="Arial"/>
                <a:cs typeface="Arial"/>
              </a:rPr>
              <a:t>INSPECTION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55E372-3FF4-482C-9B08-104B5B2F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05150"/>
            <a:ext cx="1809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 i="0">
                <a:solidFill>
                  <a:srgbClr val="16201C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6201C"/>
                </a:solidFill>
                <a:latin typeface="Arial"/>
                <a:ea typeface="Arial"/>
                <a:cs typeface="Arial"/>
              </a:rPr>
              <a:t>Original image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1" i="0">
                <a:solidFill>
                  <a:srgbClr val="16201C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6201C"/>
                </a:solidFill>
                <a:latin typeface="Arial"/>
                <a:ea typeface="Arial"/>
                <a:cs typeface="Arial"/>
              </a:rPr>
              <a:t>Defect class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1" i="0">
                <a:solidFill>
                  <a:srgbClr val="16201C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6201C"/>
                </a:solidFill>
                <a:latin typeface="Arial"/>
                <a:ea typeface="Arial"/>
                <a:cs typeface="Arial"/>
              </a:rPr>
              <a:t>Mask + coordinates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D3492D-0058-4F05-A38E-25FDB357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343150"/>
            <a:ext cx="2533650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7D4F65-AF13-46F2-8D85-D14FE7C3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6479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 i="0">
                <a:solidFill>
                  <a:srgbClr val="C8650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C8650D"/>
                </a:solidFill>
                <a:latin typeface="Arial"/>
                <a:ea typeface="Arial"/>
                <a:cs typeface="Arial"/>
              </a:rPr>
              <a:t>PRODUCTION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05A0B0-F462-4A8F-9945-9EE5643FC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05150"/>
            <a:ext cx="1809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 i="0">
                <a:solidFill>
                  <a:srgbClr val="16201C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6201C"/>
                </a:solidFill>
                <a:latin typeface="Arial"/>
                <a:ea typeface="Arial"/>
                <a:cs typeface="Arial"/>
              </a:rPr>
              <a:t>Scenario row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1" i="0">
                <a:solidFill>
                  <a:srgbClr val="16201C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6201C"/>
                </a:solidFill>
                <a:latin typeface="Arial"/>
                <a:ea typeface="Arial"/>
                <a:cs typeface="Arial"/>
              </a:rPr>
              <a:t>Station signals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1" i="0">
                <a:solidFill>
                  <a:srgbClr val="16201C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6201C"/>
                </a:solidFill>
                <a:latin typeface="Arial"/>
                <a:ea typeface="Arial"/>
                <a:cs typeface="Arial"/>
              </a:rPr>
              <a:t>Empirical baseline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F17DC0-C8ED-4320-B5BF-2E642103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43150"/>
            <a:ext cx="2533650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4A5F5B-2B92-40D5-ABF3-D70DA53DD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479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 i="0">
                <a:solidFill>
                  <a:srgbClr val="C8650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C8650D"/>
                </a:solidFill>
                <a:latin typeface="Arial"/>
                <a:ea typeface="Arial"/>
                <a:cs typeface="Arial"/>
              </a:rPr>
              <a:t>ECONOMIC 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301B59-CEC9-481F-AEA6-24B1B0A69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105150"/>
            <a:ext cx="1809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78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 i="0">
                <a:solidFill>
                  <a:srgbClr val="16201C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6201C"/>
                </a:solidFill>
                <a:latin typeface="Arial"/>
                <a:ea typeface="Arial"/>
                <a:cs typeface="Arial"/>
              </a:rPr>
              <a:t>Scrap cost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1" i="0">
                <a:solidFill>
                  <a:srgbClr val="16201C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6201C"/>
                </a:solidFill>
                <a:latin typeface="Arial"/>
                <a:ea typeface="Arial"/>
                <a:cs typeface="Arial"/>
              </a:rPr>
              <a:t>Rework assumptions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1" i="0">
                <a:solidFill>
                  <a:srgbClr val="16201C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6201C"/>
                </a:solidFill>
                <a:latin typeface="Arial"/>
                <a:ea typeface="Arial"/>
                <a:cs typeface="Arial"/>
              </a:rPr>
              <a:t>Margin impact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B8994A-7334-4F69-918B-96A35FD5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4802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28A1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C3F857-E395-4EA4-B4B3-EF7009788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200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A1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E058AD-634D-4A07-AEB6-6E852B003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4802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28A1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EB20A4-B074-4774-A2AF-54E4BA8E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200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A1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FCEE26-A853-4463-8FE6-491B06508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90850"/>
            <a:ext cx="14097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1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AED8EB-942A-4ABF-B83F-2C721E45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29565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 i="0">
                <a:solidFill>
                  <a:srgbClr val="F28A1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28A1A"/>
                </a:solidFill>
                <a:latin typeface="Arial"/>
                <a:ea typeface="Arial"/>
                <a:cs typeface="Arial"/>
              </a:rPr>
              <a:t>ASTRA UI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2876AD-65B0-4A3D-858C-44249F66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638550"/>
            <a:ext cx="933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4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Next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C69C75-9AAF-4111-A49C-B683B0B8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5909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28A1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C09A7C-5167-477F-9347-78405535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543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A1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12197A-AA47-4895-8B95-9ED3E756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25336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A1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5EA561-15C0-40AC-9844-8DEC5940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530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DETECTOR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3E52F7-E9E4-4411-9707-91405A678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149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1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Measured visual evidence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0E9EBE-BD4B-4C1C-A988-9815745D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629150"/>
            <a:ext cx="25336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C4C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4777FE-5D23-470F-BE52-C4C0D541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9530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FLOW ENGINE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78574C-2F10-4AB5-9A5F-91B842CA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3149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238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Constraints + queue context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B55BC0-10C8-4F97-9C7F-72AD3EA8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29150"/>
            <a:ext cx="25336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33C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355726-1964-4BBA-9A2D-6D5B04D5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9530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 i="0">
                <a:solidFill>
                  <a:srgbClr val="F4C996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4C996"/>
                </a:solidFill>
                <a:latin typeface="Arial"/>
                <a:ea typeface="Arial"/>
                <a:cs typeface="Arial"/>
              </a:rPr>
              <a:t>DECISION LAYER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C66B98-6406-4EDC-9211-C3C1633E8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314950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Explain · hypothesize · simulate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B16B0C-F3B9-433E-A5D1-492F76FD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34352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28A1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57C7AA-71CE-4045-8233-1F138776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5295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A1A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4D258E-ADE9-4FF6-AAB5-BDE439DD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34352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28A1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8769AB1-974B-435F-9583-EBF390686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295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A1A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ABBC641-B106-49F2-AA84-89227B587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D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EDDFA41-DBF1-49A8-9242-0C028A064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1" i="0">
                <a:solidFill>
                  <a:srgbClr val="6F7A7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F7A73"/>
                </a:solidFill>
                <a:latin typeface="Arial"/>
                <a:ea typeface="Arial"/>
                <a:cs typeface="Arial"/>
              </a:rPr>
              <a:t>A  ASTRA INTELLIGENCE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1DD9E5-C1C2-4486-BA93-840FBE4D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5722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825" b="0" i="0">
                <a:solidFill>
                  <a:srgbClr val="9BA59E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9BA59E"/>
                </a:solidFill>
                <a:latin typeface="Arial"/>
                <a:ea typeface="Arial"/>
                <a:cs typeface="Arial"/>
              </a:rPr>
              <a:t>Built around evidence. Designed for better decisions.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82AEA30-83C4-486B-ACCA-AF3E2193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825" b="1" i="0">
                <a:solidFill>
                  <a:srgbClr val="6F7A7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F7A7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198662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8C45FC7-7EAE-4BB1-8AF9-08F11DBB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1" i="0">
                <a:solidFill>
                  <a:srgbClr val="C8650D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C8650D"/>
                </a:solidFill>
                <a:latin typeface="Arial"/>
                <a:ea typeface="Arial"/>
                <a:cs typeface="Arial"/>
              </a:rPr>
              <a:t>JUDGE INTERACTION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983E73-542A-42CF-BAD2-45F1C10D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762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150" b="1" i="0">
                <a:solidFill>
                  <a:srgbClr val="16201C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6201C"/>
                </a:solidFill>
                <a:latin typeface="Arial"/>
                <a:ea typeface="Arial"/>
                <a:cs typeface="Arial"/>
              </a:rPr>
              <a:t>Five steps from image to action.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5889A6-8EBB-4AA8-B899-109E97195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 i="0">
                <a:solidFill>
                  <a:srgbClr val="6F7A7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F7A73"/>
                </a:solidFill>
                <a:latin typeface="Arial"/>
                <a:ea typeface="Arial"/>
                <a:cs typeface="Arial"/>
              </a:rPr>
              <a:t>A judge can start with a surface image and end with a defensible next move.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762F59-CAE4-4809-BB4F-73998BF3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1943100" cy="12192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3CE2A3-996A-4595-9EEE-C66D2E9B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 i="0">
                <a:solidFill>
                  <a:srgbClr val="C8650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8650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CB3542-A346-41CA-BA9A-762054C8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 i="0">
                <a:solidFill>
                  <a:srgbClr val="16201C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6201C"/>
                </a:solidFill>
                <a:latin typeface="Arial"/>
                <a:ea typeface="Arial"/>
                <a:cs typeface="Arial"/>
              </a:rPr>
              <a:t>Load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5736AD-64BF-4DEB-89E7-80571C36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0" i="0">
                <a:solidFill>
                  <a:srgbClr val="6F7A7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F7A73"/>
                </a:solidFill>
                <a:latin typeface="Arial"/>
                <a:ea typeface="Arial"/>
                <a:cs typeface="Arial"/>
              </a:rPr>
              <a:t>Select model + scenario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6779E3-669B-4C20-8B20-7A366122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47900"/>
            <a:ext cx="1943100" cy="12192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904D56-1DE2-4AEB-B4C0-DDA763637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40030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 i="0">
                <a:solidFill>
                  <a:srgbClr val="C8650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8650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35B00F-E38D-4E4F-B77E-67306494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2415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 i="0">
                <a:solidFill>
                  <a:srgbClr val="16201C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6201C"/>
                </a:solidFill>
                <a:latin typeface="Arial"/>
                <a:ea typeface="Arial"/>
                <a:cs typeface="Arial"/>
              </a:rPr>
              <a:t>Inspect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73EBD7-BA30-4A20-AECB-3093A5D3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480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0" i="0">
                <a:solidFill>
                  <a:srgbClr val="6F7A7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F7A73"/>
                </a:solidFill>
                <a:latin typeface="Arial"/>
                <a:ea typeface="Arial"/>
                <a:cs typeface="Arial"/>
              </a:rPr>
              <a:t>Upload a real image batch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ED97AB-EB23-4900-99AD-EBA93913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47900"/>
            <a:ext cx="1943100" cy="12192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F28A1A"/>
          </a:solidFill>
          <a:ln xmlns:a="http://schemas.openxmlformats.org/drawingml/2006/main" w="9525">
            <a:solidFill>
              <a:srgbClr val="F28A1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76D134-BA6C-4136-AC3F-9E0698DA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40030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4CD430-3EDF-44B1-9B82-FEFA5D9FB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72415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C80B2C-9264-4E18-AB4C-25F2C3216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0480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0" i="0">
                <a:solidFill>
                  <a:srgbClr val="FFF8E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FFF8ED"/>
                </a:solidFill>
                <a:latin typeface="Arial"/>
                <a:ea typeface="Arial"/>
                <a:cs typeface="Arial"/>
              </a:rPr>
              <a:t>Open original / mask / 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413008-61D7-42C5-8901-623AD27E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47900"/>
            <a:ext cx="1943100" cy="12192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D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5807A4-1E31-4851-8298-3383E90A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0030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 i="0">
                <a:solidFill>
                  <a:srgbClr val="C8650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8650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DAE4D0-66DC-49F4-9A4E-CD443E9FC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72415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 i="0">
                <a:solidFill>
                  <a:srgbClr val="16201C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6201C"/>
                </a:solidFill>
                <a:latin typeface="Arial"/>
                <a:ea typeface="Arial"/>
                <a:cs typeface="Arial"/>
              </a:rPr>
              <a:t>Investigate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7D3B69-EC15-4B3B-AA94-E3D57C939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480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0" i="0">
                <a:solidFill>
                  <a:srgbClr val="6F7A7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F7A73"/>
                </a:solidFill>
                <a:latin typeface="Arial"/>
                <a:ea typeface="Arial"/>
                <a:cs typeface="Arial"/>
              </a:rPr>
              <a:t>Review process 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194D9C-C18F-4667-875B-2F4F33D92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247900"/>
            <a:ext cx="1943100" cy="12192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D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1B3B70-3B9E-40CA-880E-8FE0589FA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40030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 i="0">
                <a:solidFill>
                  <a:srgbClr val="C8650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8650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A7303C-BCAF-458D-B2F7-3C842FF6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72415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 i="0">
                <a:solidFill>
                  <a:srgbClr val="16201C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6201C"/>
                </a:solidFill>
                <a:latin typeface="Arial"/>
                <a:ea typeface="Arial"/>
                <a:cs typeface="Arial"/>
              </a:rPr>
              <a:t>Simulate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34424F-B398-46A5-96DB-CFA5B18C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0480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0" i="0">
                <a:solidFill>
                  <a:srgbClr val="6F7A7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F7A73"/>
                </a:solidFill>
                <a:latin typeface="Arial"/>
                <a:ea typeface="Arial"/>
                <a:cs typeface="Arial"/>
              </a:rPr>
              <a:t>Test an observed alternative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EC7768-2E5C-4397-ABA3-31BA8C64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857500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28A1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23C431-17ED-4595-A133-DD8F6CCF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809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A1A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7F1CC2-F098-4FC5-93E7-7943C178B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857500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28A1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996768-2C7A-492A-B192-FEE74C2D6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809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A1A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381426-11EF-460A-9809-186CEF53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57500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28A1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9DF50B-D258-413C-9C60-E0D61C5A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809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A1A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E6027C-BD97-4657-BCA5-293B001C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57500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28A1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1808BC-4003-422F-99AC-EB311815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809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A1A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D227E2-5D57-42CB-AD02-4DCFE80E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3162300" cy="171450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3D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029662-1764-449B-979B-2C47B2F8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2895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 i="0">
                <a:solidFill>
                  <a:srgbClr val="6F7A7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F7A73"/>
                </a:solidFill>
                <a:latin typeface="Arial"/>
                <a:ea typeface="Arial"/>
                <a:cs typeface="Arial"/>
              </a:rPr>
              <a:t>REAL BATCH · RUST EXAMPLE</a:t>
            </a:r>
          </a:p>
        </p:txBody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a912e201514b2e"/>
          <a:stretch xmlns:a="http://schemas.openxmlformats.org/drawingml/2006/main"/>
        </p:blipFill>
        <p:spPr>
          <a:xfrm xmlns:a="http://schemas.openxmlformats.org/drawingml/2006/main">
            <a:off x="1676400" y="4552950"/>
            <a:ext cx="1181100" cy="1181100"/>
          </a:xfrm>
          <a:prstGeom xmlns:a="http://schemas.openxmlformats.org/drawingml/2006/main" prst="roundRect">
            <a:avLst>
              <a:gd name="adj" fmla="val 8065"/>
            </a:avLst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FF1939A-4F98-4D58-9795-941F7F00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191000"/>
            <a:ext cx="31813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B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3D0B061-0A11-4EB3-BEC8-C2DFD6C41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5148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 i="0">
                <a:solidFill>
                  <a:srgbClr val="C8650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C8650D"/>
                </a:solidFill>
                <a:latin typeface="Arial"/>
                <a:ea typeface="Arial"/>
                <a:cs typeface="Arial"/>
              </a:rPr>
              <a:t>CURRENT EVIDENCE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ACA68BF-0FE5-4915-AE79-46B49B1D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914900"/>
            <a:ext cx="276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2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1" i="0">
                <a:solidFill>
                  <a:srgbClr val="16201C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6201C"/>
                </a:solidFill>
                <a:latin typeface="Arial"/>
                <a:ea typeface="Arial"/>
                <a:cs typeface="Arial"/>
              </a:rPr>
              <a:t>5 images · 4 defective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1" i="0">
                <a:solidFill>
                  <a:srgbClr val="16201C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6201C"/>
                </a:solidFill>
                <a:latin typeface="Arial"/>
                <a:ea typeface="Arial"/>
                <a:cs typeface="Arial"/>
              </a:rPr>
              <a:t>Output 1,338 · WIP 188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1" i="0">
                <a:solidFill>
                  <a:srgbClr val="16201C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6201C"/>
                </a:solidFill>
                <a:latin typeface="Arial"/>
                <a:ea typeface="Arial"/>
                <a:cs typeface="Arial"/>
              </a:rPr>
              <a:t>Assembly score 80 · critical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41397F6-4A68-4B10-AE55-48D85CCBA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191000"/>
            <a:ext cx="3905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16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1057E19-D03D-4769-B7CC-886CD46A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148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 i="0">
                <a:solidFill>
                  <a:srgbClr val="F28A1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28A1A"/>
                </a:solidFill>
                <a:latin typeface="Arial"/>
                <a:ea typeface="Arial"/>
                <a:cs typeface="Arial"/>
              </a:rPr>
              <a:t>NEXT MOVE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B87B4E5-4D44-45BE-A8B6-E89A3DCF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91490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9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Investigate abnormal conditions around the leading constraint, then run a controlled scenario match.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3F24FA0-9F75-476E-B398-63384717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D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0752032-145E-4091-B1C0-7FEE60CED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1" i="0">
                <a:solidFill>
                  <a:srgbClr val="6F7A7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F7A73"/>
                </a:solidFill>
                <a:latin typeface="Arial"/>
                <a:ea typeface="Arial"/>
                <a:cs typeface="Arial"/>
              </a:rPr>
              <a:t>A  ASTRA INTELLIGENCE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1F296E1-F330-40C3-A97C-8B49FD60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5722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825" b="0" i="0">
                <a:solidFill>
                  <a:srgbClr val="9BA59E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9BA59E"/>
                </a:solidFill>
                <a:latin typeface="Arial"/>
                <a:ea typeface="Arial"/>
                <a:cs typeface="Arial"/>
              </a:rPr>
              <a:t>Built around evidence. Designed for better decisions.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B1D5964-B141-4570-A492-63232DBBD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722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825" b="1" i="0">
                <a:solidFill>
                  <a:srgbClr val="6F7A7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F7A7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733702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11A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F99AC7-47C2-45FC-9DC5-D2E28FFA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CF8"/>
          </a:solidFill>
          <a:ln xmlns:a="http://schemas.openxmlformats.org/drawingml/2006/main" w="0">
            <a:noFill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eeae715bc04e81"/>
          <a:stretch xmlns:a="http://schemas.openxmlformats.org/drawingml/2006/main"/>
        </p:blipFill>
        <p:spPr>
          <a:xfrm xmlns:a="http://schemas.openxmlformats.org/drawingml/2006/main">
            <a:off x="228600" y="1627818"/>
            <a:ext cx="6400800" cy="3602364"/>
          </a:xfrm>
          <a:prstGeom xmlns:a="http://schemas.openxmlformats.org/drawingml/2006/main" prst="roundRect">
            <a:avLst>
              <a:gd name="adj" fmla="val 2804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6B6421-E9A7-495E-9626-87809E62B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066800"/>
            <a:ext cx="100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28A1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414772-E5A2-43E3-B866-40CDE62F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4668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 i="0">
                <a:solidFill>
                  <a:srgbClr val="F28A1A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28A1A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7AAD15-06AC-490D-B8AE-F7DCEBA8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924050"/>
            <a:ext cx="39433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482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ASTRA turns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3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inspection into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3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next question.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9445BF-8D99-4CA3-9F6F-17838244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905250"/>
            <a:ext cx="3562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1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 i="0">
                <a:solidFill>
                  <a:srgbClr val="C8D5C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C8D5CB"/>
                </a:solidFill>
                <a:latin typeface="Arial"/>
                <a:ea typeface="Arial"/>
                <a:cs typeface="Arial"/>
              </a:rPr>
              <a:t>The visible defect is only the beginning. The value appears when quality, flow, evidence, and action stay connected.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A15ABC-ED94-4BC4-B8DF-A19D2462E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200650"/>
            <a:ext cx="3257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A1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1234F3-B98B-4D16-AE29-79AE7358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381625"/>
            <a:ext cx="2686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FROM PIXELS TO 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53CD32-97D8-4108-881B-3902ED000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62674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1" i="0">
                <a:solidFill>
                  <a:srgbClr val="DDE7DE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DDE7DE"/>
                </a:solidFill>
                <a:latin typeface="Arial"/>
                <a:ea typeface="Arial"/>
                <a:cs typeface="Arial"/>
              </a:rPr>
              <a:t>A  ASTRA INTELLIGENCE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2EA5BB-BA8D-4D9A-9D9F-C68FB98F4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674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825" b="1" i="0">
                <a:solidFill>
                  <a:srgbClr val="F28A1A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28A1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09034762"/>
      </p:ext>
    </p:extLst>
  </p:cSld>
</p:sld>
</file>

<file path=ppt/theme/theme1.xml><?xml version="1.0" encoding="utf-8"?>
<a:theme xmlns:a="http://schemas.openxmlformats.org/drawingml/2006/main" name="ChatGPT">
  <a:themeElements>
    <a:clrScheme name="ASTRA Factory">
      <a:dk1>
        <a:srgbClr val="111A16"/>
      </a:dk1>
      <a:lt1>
        <a:srgbClr val="FFFFFF"/>
      </a:lt1>
      <a:dk2>
        <a:srgbClr val="25332C"/>
      </a:dk2>
      <a:lt2>
        <a:srgbClr val="DCE3DE"/>
      </a:lt2>
      <a:accent1>
        <a:srgbClr val="F28A1A"/>
      </a:accent1>
      <a:accent2>
        <a:srgbClr val="466C4C"/>
      </a:accent2>
      <a:accent3>
        <a:srgbClr val="26333C"/>
      </a:accent3>
      <a:accent4>
        <a:srgbClr val="C8650D"/>
      </a:accent4>
      <a:accent5>
        <a:srgbClr val="16201C"/>
      </a:accent5>
      <a:accent6>
        <a:srgbClr val="DCE8D7"/>
      </a:accent6>
      <a:hlink>
        <a:srgbClr val="C8650D"/>
      </a:hlink>
      <a:folHlink>
        <a:srgbClr val="C8650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ASTRA Factory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2026-09-20T00:44:15.0910000Z</dcterms:created>
  <dcterms:modified xsi:type="dcterms:W3CDTF">2026-09-20T00:44:15.0910000Z</dcterms:modified>
</coreProperties>
</file>